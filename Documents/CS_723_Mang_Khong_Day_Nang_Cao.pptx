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revisionInfo.xml" ContentType="application/vnd.ms-powerpoint.revisioninfo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Default Extension="xlsx" ContentType="application/vnd.openxmlformats-officedocument.spreadsheetml.sheet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B5115D-20C4-50F6-1B25-ACCEDAAB625C}" v="140" dt="2026-05-17T02:38:21.0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9972" autoAdjust="0"/>
    <p:restoredTop sz="94660"/>
  </p:normalViewPr>
  <p:slideViewPr>
    <p:cSldViewPr snapToGrid="0">
      <p:cViewPr varScale="1">
        <p:scale>
          <a:sx n="125" d="100"/>
          <a:sy n="125" d="100"/>
        </p:scale>
        <p:origin x="-82" y="-22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Office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1"/>
  <c:chart>
    <c:autoTitleDeleted val="1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Sum-Rate (Mbps)</c:v>
                </c:pt>
              </c:strCache>
            </c:strRef>
          </c:tx>
          <c:spPr>
            <a:solidFill>
              <a:srgbClr val="8899AA"/>
            </a:solidFill>
            <a:effectLst/>
          </c:spPr>
          <c:dPt>
            <c:idx val="1"/>
            <c:spPr>
              <a:solidFill>
                <a:srgbClr val="EF5350"/>
              </a:solidFill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CF99-4749-B5FF-9F631B7EC850}"/>
              </c:ext>
            </c:extLst>
          </c:dPt>
          <c:dPt>
            <c:idx val="2"/>
            <c:spPr>
              <a:solidFill>
                <a:srgbClr val="4CAF50"/>
              </a:solidFill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5-CF99-4749-B5FF-9F631B7EC850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Val val="1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Đứng yên</c:v>
                </c:pt>
                <c:pt idx="1">
                  <c:v>Tham lam</c:v>
                </c:pt>
                <c:pt idx="2">
                  <c:v>Tối ưu lưới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1726.06</c:v>
                </c:pt>
                <c:pt idx="1">
                  <c:v>1663.49</c:v>
                </c:pt>
                <c:pt idx="2">
                  <c:v>1733.75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CF99-4749-B5FF-9F631B7EC850}"/>
            </c:ext>
          </c:extLst>
        </c:ser>
        <c:dLbls>
          <c:showVal val="1"/>
        </c:dLbls>
        <c:axId val="164982784"/>
        <c:axId val="164984320"/>
      </c:barChart>
      <c:catAx>
        <c:axId val="164982784"/>
        <c:scaling>
          <c:orientation val="minMax"/>
        </c:scaling>
        <c:axPos val="b"/>
        <c:numFmt formatCode="General" sourceLinked="1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0BEC5"/>
                </a:solidFill>
                <a:latin typeface="Arial"/>
              </a:defRPr>
            </a:pPr>
            <a:endParaRPr lang="en-US"/>
          </a:p>
        </c:txPr>
        <c:crossAx val="164984320"/>
        <c:crosses val="autoZero"/>
        <c:auto val="1"/>
        <c:lblAlgn val="ctr"/>
        <c:lblOffset val="100"/>
        <c:noMultiLvlLbl val="1"/>
      </c:catAx>
      <c:valAx>
        <c:axId val="164984320"/>
        <c:scaling>
          <c:orientation val="minMax"/>
        </c:scaling>
        <c:axPos val="l"/>
        <c:majorGridlines>
          <c:spPr>
            <a:ln w="6350" cap="flat">
              <a:solidFill>
                <a:srgbClr val="1A2D4A"/>
              </a:solidFill>
              <a:prstDash val="solid"/>
              <a:round/>
            </a:ln>
          </c:spPr>
        </c:majorGridlines>
        <c:numFmt formatCode="General" sourceLinked="0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B0BEC5"/>
                </a:solidFill>
                <a:latin typeface="Arial"/>
              </a:defRPr>
            </a:pPr>
            <a:endParaRPr lang="en-US"/>
          </a:p>
        </c:txPr>
        <c:crossAx val="1649827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52238"/>
    </a:solidFill>
    <a:ln>
      <a:noFill/>
    </a:ln>
    <a:effectLst/>
  </c:spPr>
  <c:externalData r:id="rId1"/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680D6B-EB76-4A51-8419-3ACFC8A1FFE1}" type="datetimeFigureOut">
              <a:rPr/>
              <a:pPr/>
              <a:t>5/16/2026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3BDB2D-B5D5-4DC8-9928-5EDCF0C09CB4}" type="slidenum">
              <a:rPr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86005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0BCD4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0" y="2743200"/>
            <a:ext cx="2743200" cy="2743200"/>
          </a:xfrm>
          <a:prstGeom prst="ellipse">
            <a:avLst/>
          </a:prstGeom>
          <a:solidFill>
            <a:srgbClr val="0097A7">
              <a:alpha val="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3152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NGHIÊN CỨU VÀ MÔ PHỎNG HIỆU SUẤT</a:t>
            </a:r>
            <a:endParaRPr lang="en-US" sz="2800" dirty="0">
              <a:latin typeface="Times New Roman"/>
              <a:cs typeface="Times New Roman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TỐI ƯU HÓA DUNG LƯỢNG MẠNG 6G</a:t>
            </a:r>
            <a:endParaRPr lang="en-US" sz="2800" dirty="0">
              <a:latin typeface="Times New Roman"/>
              <a:cs typeface="Times New Roman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HỖ TRỢ BỞI UAV</a:t>
            </a:r>
            <a:endParaRPr lang="en-US" sz="2800" dirty="0">
              <a:latin typeface="Times New Roman"/>
              <a:cs typeface="Times New Roman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Tiểu</a:t>
            </a:r>
            <a:r>
              <a:rPr lang="en-US" sz="1600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 </a:t>
            </a:r>
            <a:r>
              <a:rPr lang="en-US" sz="1600" dirty="0" err="1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luận</a:t>
            </a:r>
            <a:r>
              <a:rPr lang="en-US" sz="1600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 Mạng Không Dây Nâng Cao</a:t>
            </a:r>
            <a:endParaRPr lang="en-US" sz="160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GVHD: PGS. TS. Hà </a:t>
            </a:r>
            <a:r>
              <a:rPr lang="en-US" sz="1300" b="1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Đắc</a:t>
            </a:r>
            <a:r>
              <a:rPr lang="en-US" sz="1300" b="1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 Bình</a:t>
            </a:r>
            <a:endParaRPr lang="en-US" sz="1300">
              <a:latin typeface="Times New Roman"/>
              <a:cs typeface="Times New Roman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Nhóm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: Nguyễn Chiếm Hảo  •  Phùng Hữu </a:t>
            </a: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Thi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  •  Trần Văn Bảo</a:t>
            </a:r>
            <a:endParaRPr lang="en-US" sz="1300">
              <a:latin typeface="Times New Roman"/>
              <a:cs typeface="Times New Roman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Đại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 Học Duy Tân  |  </a:t>
            </a: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Đà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 </a:t>
            </a:r>
            <a:r>
              <a:rPr lang="en-US" sz="1300" dirty="0" err="1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Nẵng</a:t>
            </a: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, 05/2026</a:t>
            </a:r>
            <a:endParaRPr lang="en-US" sz="1300">
              <a:latin typeface="Times New Roman"/>
              <a:cs typeface="Times New Roman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57200"/>
            <a:ext cx="640080" cy="6400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NỘI DUNG TRÌNH BÀY</a:t>
            </a:r>
            <a:endParaRPr lang="en-US" sz="3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7863840" cy="77724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20700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01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2801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12344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Tổng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quan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công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nghệ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UAV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trong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mạng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6G</a:t>
            </a:r>
            <a:endParaRPr lang="en-US" sz="1600" dirty="0"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40080" y="2057400"/>
            <a:ext cx="7863840" cy="77724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02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22402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94560" y="219456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Mô hình hệ thống &amp; bài toán tối ưu hóa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40080" y="3017520"/>
            <a:ext cx="7863840" cy="77724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822960" y="312724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03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4480" y="320040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194560" y="31546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Giải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pháp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thuật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toán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đề</a:t>
            </a: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imes New Roman" pitchFamily="18" charset="0"/>
                <a:ea typeface="Calibri"/>
                <a:cs typeface="Times New Roman" pitchFamily="18" charset="0"/>
              </a:rPr>
              <a:t>xuất</a:t>
            </a:r>
            <a:endParaRPr lang="en-US" sz="1600" dirty="0" err="1"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640080" y="3977640"/>
            <a:ext cx="7863840" cy="77724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822960" y="40873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04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" y="416052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194560" y="41148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itchFamily="18" charset="0"/>
                <a:ea typeface="Calibri" pitchFamily="34" charset="-122"/>
                <a:cs typeface="Times New Roman" pitchFamily="18" charset="0"/>
              </a:rPr>
              <a:t>Kết quả mô phỏng &amp; thảo luận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BCD4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CHƯƠNG 1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TỔNG QUAN VỀ CÔNG NGHỆ UAV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itchFamily="18" charset="0"/>
                <a:ea typeface="Trebuchet MS" pitchFamily="34" charset="-122"/>
                <a:cs typeface="Times New Roman" pitchFamily="18" charset="0"/>
              </a:rPr>
              <a:t>TRONG MẠNG VÔ TUYẾN 6G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Vai trò của UAV trong mạng 6G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51760" cy="32004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188720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1920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Trạm </a:t>
            </a:r>
            <a:r>
              <a:rPr lang="en-US" sz="1300" b="1" dirty="0" err="1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gốc</a:t>
            </a: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 </a:t>
            </a:r>
            <a:r>
              <a:rPr lang="en-US" sz="1300" b="1" dirty="0" err="1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trên</a:t>
            </a: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 </a:t>
            </a:r>
            <a:r>
              <a:rPr lang="en-US" sz="1300" b="1" dirty="0" err="1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không</a:t>
            </a:r>
            <a:endParaRPr lang="en-US" sz="1300" dirty="0" err="1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(Aerial BS)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7" name="Text 4"/>
          <p:cNvSpPr/>
          <p:nvPr/>
        </p:nvSpPr>
        <p:spPr>
          <a:xfrm>
            <a:off x="594360" y="27889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Cấp phát vùng phủ sóng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mmWave đường xuống cho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vùng thiên tai, cô lập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337560" y="960120"/>
            <a:ext cx="2651760" cy="32004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188720"/>
            <a:ext cx="594360" cy="5943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74720" y="1920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DD0E1"/>
                </a:solidFill>
                <a:latin typeface="Times New Roman"/>
                <a:ea typeface="Trebuchet MS" pitchFamily="34" charset="-122"/>
                <a:cs typeface="Times New Roman"/>
              </a:rPr>
              <a:t>Trạm chuyển tiếp</a:t>
            </a:r>
            <a:endParaRPr lang="en-US" sz="13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DD0E1"/>
                </a:solidFill>
                <a:latin typeface="Times New Roman"/>
                <a:ea typeface="Trebuchet MS" pitchFamily="34" charset="-122"/>
                <a:cs typeface="Times New Roman"/>
              </a:rPr>
              <a:t>(Aerial Relay)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1" name="Text 7"/>
          <p:cNvSpPr/>
          <p:nvPr/>
        </p:nvSpPr>
        <p:spPr>
          <a:xfrm>
            <a:off x="3474720" y="27889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Tăng cường liên kết khi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LoS bị che khuất bởi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chướng ngại vật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217920" y="960120"/>
            <a:ext cx="2651760" cy="32004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188720"/>
            <a:ext cx="594360" cy="5943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355080" y="1920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Thiết bị thu phát</a:t>
            </a:r>
            <a:endParaRPr lang="en-US" sz="13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(Aerial UE)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6355080" y="27889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Kết nối đa hướng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mặt đất - vệ tinh,</a:t>
            </a:r>
            <a:endParaRPr lang="en-US" sz="115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chia sẻ dữ liệu thời gian thực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457200" y="4343400"/>
            <a:ext cx="8229600" cy="594360"/>
          </a:xfrm>
          <a:prstGeom prst="rect">
            <a:avLst/>
          </a:prstGeom>
          <a:solidFill>
            <a:srgbClr val="1A2D4A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453128"/>
            <a:ext cx="347472" cy="347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97280" y="437083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Trọng tâm nghiên cứu: Mô hình UAV làm Trạm gốc trên không (Aerial BS) cấp phát mạng mmWave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Thách thức hệ thống mạng UAV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11430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801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097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Giới hạn Năng lượng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7" name="Text 4"/>
          <p:cNvSpPr/>
          <p:nvPr/>
        </p:nvSpPr>
        <p:spPr>
          <a:xfrm>
            <a:off x="164592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SWaP Constraints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8" name="Text 5"/>
          <p:cNvSpPr/>
          <p:nvPr/>
        </p:nvSpPr>
        <p:spPr>
          <a:xfrm>
            <a:off x="4846320" y="11430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Pin tích hợp giới hạn: cần cân bằng giữa công suất phát vô tuyến và công suất cơ học di chuyển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40080" y="2331720"/>
            <a:ext cx="7863840" cy="11430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60604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Nhiễu tín hiệu phức tạp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12" name="Text 8"/>
          <p:cNvSpPr/>
          <p:nvPr/>
        </p:nvSpPr>
        <p:spPr>
          <a:xfrm>
            <a:off x="1645920" y="2788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Co-channel Interference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846320" y="24688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Kênh LoS độ lợi cao tạo nhiễu đồng kênh nghiêm trọng giữa UAV-BS và trạm mặt đất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40080" y="3657600"/>
            <a:ext cx="7863840" cy="11430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931920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45920" y="3749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Hiệu ứng Rung lắc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64592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BCD4"/>
                </a:solidFill>
                <a:latin typeface="Times New Roman"/>
                <a:ea typeface="Calibri" pitchFamily="34" charset="-122"/>
                <a:cs typeface="Times New Roman"/>
              </a:rPr>
              <a:t>UAV Jittering Effect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4846320" y="379476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Gió, rung cánh quạt phá hủy độ chính xác bám bắt búp sóng mmWave/THz bước sóng cực ngắn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CHƯƠNG 2</a:t>
            </a:r>
            <a:endParaRPr lang="en-US" sz="2000" dirty="0">
              <a:latin typeface="Times New Roman"/>
              <a:cs typeface="Times New Roman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MÔ HÌNH HỆ THỐNG VÀ BÀI TOÁN</a:t>
            </a:r>
            <a:endParaRPr lang="en-US" sz="3200" dirty="0">
              <a:latin typeface="Times New Roman"/>
              <a:cs typeface="Times New Roman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TỐI ƯU HÓA DUNG LƯỢNG</a:t>
            </a:r>
            <a:endParaRPr lang="en-US" sz="3200" dirty="0">
              <a:latin typeface="Times New Roman"/>
              <a:cs typeface="Times New Roman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Kịch bản mô phỏng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UAV-BS phát sóng mmWave đường xuống cho K = 9 người dùng mặt đất trong vùng 100 × 100 m</a:t>
            </a:r>
            <a:endParaRPr lang="en-US" sz="13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UAV bay cố định ở độ cao h = 50 m, điều chỉnh linh hoạt tọa độ (x, y)</a:t>
            </a:r>
            <a:endParaRPr lang="en-US" sz="13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Kênh truyền LoS với mô hình suy hao mmWave 28 GHz</a:t>
            </a:r>
            <a:endParaRPr lang="en-US" sz="13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Mục tiêu: Tối ưu hóa vị trí UAV để cực đại hóa tổng dung lượng mạng (Sum-Rate)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303520" y="914400"/>
            <a:ext cx="1737360" cy="1417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28 GHz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530352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Tần số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5303520" y="1920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mmWave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178040" y="914400"/>
            <a:ext cx="1737360" cy="1417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178040" y="1097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30 dBm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17804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Công suất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178040" y="1920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UAV-BS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303520" y="2560320"/>
            <a:ext cx="1737360" cy="1417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03520" y="2743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20 MHz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303520" y="3291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Băng thông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303520" y="3566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Kênh truyền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178040" y="2560320"/>
            <a:ext cx="1737360" cy="1417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178040" y="2743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50 m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178040" y="3291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Độ cao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178040" y="3566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UAV cố định</a:t>
            </a:r>
            <a:endParaRPr lang="en-US" sz="1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Xây dựng mô hình toán học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896112"/>
            <a:ext cx="7863840" cy="822960"/>
          </a:xfrm>
          <a:prstGeom prst="rect">
            <a:avLst/>
          </a:prstGeom>
          <a:solidFill>
            <a:srgbClr val="152238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078992"/>
            <a:ext cx="411480" cy="411480"/>
          </a:xfrm>
          <a:prstGeom prst="ellipse">
            <a:avLst/>
          </a:prstGeom>
          <a:solidFill>
            <a:srgbClr val="00BCD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/>
                <a:ea typeface="Trebuchet MS" pitchFamily="34" charset="-122"/>
                <a:cs typeface="Times New Roman"/>
              </a:rPr>
              <a:t>1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6" name="Text 4"/>
          <p:cNvSpPr/>
          <p:nvPr/>
        </p:nvSpPr>
        <p:spPr>
          <a:xfrm>
            <a:off x="1371600" y="960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Khoảng cách hình học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smtClean="0">
                <a:solidFill>
                  <a:srgbClr val="00B0F0"/>
                </a:solidFill>
              </a:rPr>
              <a:t>d</a:t>
            </a:r>
            <a:r>
              <a:rPr lang="en-US" sz="1200" b="1" baseline="-25000" dirty="0" smtClean="0">
                <a:solidFill>
                  <a:srgbClr val="00B0F0"/>
                </a:solidFill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</a:rPr>
              <a:t> = √((x - </a:t>
            </a:r>
            <a:r>
              <a:rPr lang="en-US" sz="1200" b="1" dirty="0" err="1" smtClean="0">
                <a:solidFill>
                  <a:srgbClr val="00B0F0"/>
                </a:solidFill>
              </a:rPr>
              <a:t>x</a:t>
            </a:r>
            <a:r>
              <a:rPr lang="en-US" sz="1200" b="1" baseline="-25000" dirty="0" err="1" smtClean="0">
                <a:solidFill>
                  <a:srgbClr val="00B0F0"/>
                </a:solidFill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</a:rPr>
              <a:t>)</a:t>
            </a:r>
            <a:r>
              <a:rPr lang="en-US" sz="1200" b="1" baseline="30000" dirty="0" smtClean="0">
                <a:solidFill>
                  <a:srgbClr val="00B0F0"/>
                </a:solidFill>
              </a:rPr>
              <a:t>2</a:t>
            </a:r>
            <a:r>
              <a:rPr lang="en-US" sz="1200" b="1" dirty="0" smtClean="0">
                <a:solidFill>
                  <a:srgbClr val="00B0F0"/>
                </a:solidFill>
              </a:rPr>
              <a:t> + (y - </a:t>
            </a:r>
            <a:r>
              <a:rPr lang="en-US" sz="1200" b="1" dirty="0" err="1" smtClean="0">
                <a:solidFill>
                  <a:srgbClr val="00B0F0"/>
                </a:solidFill>
              </a:rPr>
              <a:t>y</a:t>
            </a:r>
            <a:r>
              <a:rPr lang="en-US" sz="1200" b="1" baseline="-25000" dirty="0" err="1" smtClean="0">
                <a:solidFill>
                  <a:srgbClr val="00B0F0"/>
                </a:solidFill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</a:rPr>
              <a:t>)</a:t>
            </a:r>
            <a:r>
              <a:rPr lang="en-US" sz="1200" b="1" baseline="30000" dirty="0" smtClean="0">
                <a:solidFill>
                  <a:srgbClr val="00B0F0"/>
                </a:solidFill>
              </a:rPr>
              <a:t>2</a:t>
            </a:r>
            <a:r>
              <a:rPr lang="en-US" sz="1200" b="1" dirty="0" smtClean="0">
                <a:solidFill>
                  <a:srgbClr val="00B0F0"/>
                </a:solidFill>
              </a:rPr>
              <a:t> + h</a:t>
            </a:r>
            <a:r>
              <a:rPr lang="en-US" sz="1200" b="1" baseline="30000" dirty="0" smtClean="0">
                <a:solidFill>
                  <a:srgbClr val="00B0F0"/>
                </a:solidFill>
              </a:rPr>
              <a:t>2</a:t>
            </a:r>
            <a:r>
              <a:rPr lang="en-US" sz="1200" b="1" dirty="0" smtClean="0">
                <a:solidFill>
                  <a:srgbClr val="00B0F0"/>
                </a:solidFill>
              </a:rPr>
              <a:t>)</a:t>
            </a:r>
            <a:endParaRPr lang="en-US" sz="1200" dirty="0" smtClean="0">
              <a:solidFill>
                <a:srgbClr val="00B0F0"/>
              </a:solidFill>
            </a:endParaRPr>
          </a:p>
          <a:p>
            <a:pPr marL="0" indent="0">
              <a:buNone/>
            </a:pPr>
            <a:endParaRPr lang="en-US" sz="1200" dirty="0">
              <a:solidFill>
                <a:srgbClr val="00B0F0"/>
              </a:solidFill>
              <a:latin typeface="Times New Roman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4754880" y="10515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Euclide 3D giữa UAV và user u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40080" y="1920240"/>
            <a:ext cx="7863840" cy="822960"/>
          </a:xfrm>
          <a:prstGeom prst="rect">
            <a:avLst/>
          </a:prstGeom>
          <a:solidFill>
            <a:srgbClr val="15223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084832"/>
            <a:ext cx="411480" cy="411480"/>
          </a:xfrm>
          <a:prstGeom prst="ellipse">
            <a:avLst/>
          </a:prstGeom>
          <a:solidFill>
            <a:srgbClr val="00BCD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/>
                <a:ea typeface="Trebuchet MS" pitchFamily="34" charset="-122"/>
                <a:cs typeface="Times New Roman"/>
              </a:rPr>
              <a:t>2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71600" y="1965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Suy hao đường truyền (Path Loss)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71600" y="23317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 smtClean="0">
                <a:solidFill>
                  <a:srgbClr val="00B0F0"/>
                </a:solidFill>
              </a:rPr>
              <a:t>PL</a:t>
            </a:r>
            <a:r>
              <a:rPr lang="en-US" sz="1200" b="1" baseline="-25000" dirty="0" err="1" smtClean="0">
                <a:solidFill>
                  <a:srgbClr val="00B0F0"/>
                </a:solidFill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</a:rPr>
              <a:t>(d) = PL</a:t>
            </a:r>
            <a:r>
              <a:rPr lang="en-US" sz="1200" b="1" baseline="-25000" dirty="0" smtClean="0">
                <a:solidFill>
                  <a:srgbClr val="00B0F0"/>
                </a:solidFill>
              </a:rPr>
              <a:t>0</a:t>
            </a:r>
            <a:r>
              <a:rPr lang="en-US" sz="1200" b="1" dirty="0" smtClean="0">
                <a:solidFill>
                  <a:srgbClr val="00B0F0"/>
                </a:solidFill>
              </a:rPr>
              <a:t> + 10 • α • log</a:t>
            </a:r>
            <a:r>
              <a:rPr lang="en-US" sz="1200" b="1" baseline="-25000" dirty="0" smtClean="0">
                <a:solidFill>
                  <a:srgbClr val="00B0F0"/>
                </a:solidFill>
              </a:rPr>
              <a:t>10</a:t>
            </a:r>
            <a:r>
              <a:rPr lang="en-US" sz="1200" b="1" dirty="0" smtClean="0">
                <a:solidFill>
                  <a:srgbClr val="00B0F0"/>
                </a:solidFill>
              </a:rPr>
              <a:t>(d</a:t>
            </a:r>
            <a:r>
              <a:rPr lang="en-US" sz="1200" b="1" baseline="-25000" dirty="0" smtClean="0">
                <a:solidFill>
                  <a:srgbClr val="00B0F0"/>
                </a:solidFill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</a:rPr>
              <a:t>)</a:t>
            </a:r>
            <a:endParaRPr lang="en-US" sz="1200" dirty="0">
              <a:solidFill>
                <a:srgbClr val="00B0F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54880" y="2057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mmWave LoS, α = 2.2, f_c = 28 GHz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926080"/>
            <a:ext cx="7863840" cy="822960"/>
          </a:xfrm>
          <a:prstGeom prst="rect">
            <a:avLst/>
          </a:prstGeom>
          <a:solidFill>
            <a:srgbClr val="15223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090672"/>
            <a:ext cx="411480" cy="411480"/>
          </a:xfrm>
          <a:prstGeom prst="ellipse">
            <a:avLst/>
          </a:prstGeom>
          <a:solidFill>
            <a:srgbClr val="00BCD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/>
                <a:ea typeface="Trebuchet MS" pitchFamily="34" charset="-122"/>
                <a:cs typeface="Times New Roman"/>
              </a:rPr>
              <a:t>3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371600" y="2971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Tỷ số tín hiệu / nhiễu (SNR)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371600" y="3337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 smtClean="0">
                <a:solidFill>
                  <a:srgbClr val="00B0F0"/>
                </a:solidFill>
              </a:rPr>
              <a:t>γ</a:t>
            </a:r>
            <a:r>
              <a:rPr lang="en-US" sz="1200" b="1" baseline="-25000" dirty="0" err="1" smtClean="0">
                <a:solidFill>
                  <a:srgbClr val="00B0F0"/>
                </a:solidFill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</a:rPr>
              <a:t> = </a:t>
            </a:r>
            <a:r>
              <a:rPr lang="en-US" sz="1200" b="1" dirty="0" err="1" smtClean="0">
                <a:solidFill>
                  <a:srgbClr val="00B0F0"/>
                </a:solidFill>
              </a:rPr>
              <a:t>P</a:t>
            </a:r>
            <a:r>
              <a:rPr lang="en-US" sz="1200" b="1" baseline="-25000" dirty="0" err="1" smtClean="0">
                <a:solidFill>
                  <a:srgbClr val="00B0F0"/>
                </a:solidFill>
              </a:rPr>
              <a:t>rx</a:t>
            </a:r>
            <a:r>
              <a:rPr lang="en-US" sz="1200" b="1" baseline="-25000" dirty="0" smtClean="0">
                <a:solidFill>
                  <a:srgbClr val="00B0F0"/>
                </a:solidFill>
              </a:rPr>
              <a:t>, u</a:t>
            </a:r>
            <a:r>
              <a:rPr lang="en-US" sz="1200" b="1" dirty="0" smtClean="0">
                <a:solidFill>
                  <a:srgbClr val="00B0F0"/>
                </a:solidFill>
              </a:rPr>
              <a:t> / σ</a:t>
            </a:r>
            <a:r>
              <a:rPr lang="en-US" sz="1200" b="1" baseline="30000" dirty="0" smtClean="0">
                <a:solidFill>
                  <a:srgbClr val="00B0F0"/>
                </a:solidFill>
              </a:rPr>
              <a:t>2</a:t>
            </a:r>
            <a:endParaRPr lang="en-US" sz="1200" dirty="0">
              <a:solidFill>
                <a:srgbClr val="00B0F0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54880" y="30632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P_tx = 30 dBm, σ² = −100 dBm</a:t>
            </a:r>
            <a:endParaRPr lang="en-US" sz="1150" dirty="0">
              <a:latin typeface="Times New Roman"/>
              <a:cs typeface="Times New Roman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7863840" cy="822960"/>
          </a:xfrm>
          <a:prstGeom prst="rect">
            <a:avLst/>
          </a:prstGeom>
          <a:solidFill>
            <a:srgbClr val="152238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096512"/>
            <a:ext cx="411480" cy="411480"/>
          </a:xfrm>
          <a:prstGeom prst="ellipse">
            <a:avLst/>
          </a:prstGeom>
          <a:solidFill>
            <a:srgbClr val="00BCD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/>
                <a:ea typeface="Trebuchet MS" pitchFamily="34" charset="-122"/>
                <a:cs typeface="Times New Roman"/>
              </a:rPr>
              <a:t>4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37160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Dung lượng Shannon (Throughput)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371600" y="4343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smtClean="0">
                <a:solidFill>
                  <a:srgbClr val="00B0F0"/>
                </a:solidFill>
              </a:rPr>
              <a:t>C</a:t>
            </a:r>
            <a:r>
              <a:rPr lang="en-US" sz="1200" b="1" baseline="-25000" dirty="0" smtClean="0">
                <a:solidFill>
                  <a:srgbClr val="00B0F0"/>
                </a:solidFill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</a:rPr>
              <a:t> = B • log</a:t>
            </a:r>
            <a:r>
              <a:rPr lang="en-US" sz="1200" b="1" baseline="-25000" dirty="0" smtClean="0">
                <a:solidFill>
                  <a:srgbClr val="00B0F0"/>
                </a:solidFill>
              </a:rPr>
              <a:t>2</a:t>
            </a:r>
            <a:r>
              <a:rPr lang="en-US" sz="1200" b="1" dirty="0" smtClean="0">
                <a:solidFill>
                  <a:srgbClr val="00B0F0"/>
                </a:solidFill>
              </a:rPr>
              <a:t>(1 + </a:t>
            </a:r>
            <a:r>
              <a:rPr lang="en-US" sz="1200" b="1" dirty="0" err="1" smtClean="0">
                <a:solidFill>
                  <a:srgbClr val="00B0F0"/>
                </a:solidFill>
              </a:rPr>
              <a:t>γ</a:t>
            </a:r>
            <a:r>
              <a:rPr lang="en-US" sz="1200" b="1" baseline="-25000" dirty="0" err="1" smtClean="0">
                <a:solidFill>
                  <a:srgbClr val="00B0F0"/>
                </a:solidFill>
              </a:rPr>
              <a:t>u</a:t>
            </a:r>
            <a:r>
              <a:rPr lang="en-US" sz="1200" b="1" dirty="0" smtClean="0">
                <a:solidFill>
                  <a:srgbClr val="00B0F0"/>
                </a:solidFill>
              </a:rPr>
              <a:t>)</a:t>
            </a:r>
            <a:endParaRPr lang="en-US" sz="1200" dirty="0">
              <a:solidFill>
                <a:srgbClr val="00B0F0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4754880" y="40690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B = 20 MHz, đơn vị: Mbps</a:t>
            </a:r>
            <a:endParaRPr lang="en-US" sz="115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Phát biểu bài toán tối ưu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371600" y="1097280"/>
            <a:ext cx="6400800" cy="2560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71600" y="1234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MỤC TIÊU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6" name="Text 4"/>
          <p:cNvSpPr/>
          <p:nvPr/>
        </p:nvSpPr>
        <p:spPr>
          <a:xfrm>
            <a:off x="1645920" y="16459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Cực đại hóa Tổng tốc độ bit hệ thống (Sum-Rate)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1828800" y="22860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Consolas" pitchFamily="34" charset="-122"/>
                <a:cs typeface="Times New Roman"/>
              </a:rPr>
              <a:t>max(x,y)   Sum(u=1..K)  Cu(x, y)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1828800" y="2926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  <a:latin typeface="Times New Roman"/>
                <a:ea typeface="Consolas" pitchFamily="34" charset="-122"/>
                <a:cs typeface="Times New Roman"/>
              </a:rPr>
              <a:t>Ràng buộc:   −50 ≤ x ≤ 50  ;  −50 ≤ y ≤ 50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371600" y="3931920"/>
            <a:ext cx="6400800" cy="640080"/>
          </a:xfrm>
          <a:prstGeom prst="rect">
            <a:avLst/>
          </a:prstGeom>
          <a:solidFill>
            <a:srgbClr val="1A2D4A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4023360"/>
            <a:ext cx="411480" cy="411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103120" y="39319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Times New Roman"/>
                <a:ea typeface="Calibri" pitchFamily="34" charset="-122"/>
                <a:cs typeface="Times New Roman"/>
              </a:rPr>
              <a:t>Biến quyết định: tọa độ (x, y) của UAV-BS trên mặt phẳng ngang</a:t>
            </a:r>
            <a:endParaRPr lang="en-US" sz="13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CHƯƠNG 3</a:t>
            </a:r>
            <a:endParaRPr lang="en-US" sz="2000" dirty="0">
              <a:latin typeface="Times New Roman"/>
              <a:cs typeface="Times New Roman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GIẢI PHÁP THUẬT TOÁN ĐỀ XUẤT</a:t>
            </a:r>
            <a:endParaRPr lang="en-US" sz="3200" dirty="0">
              <a:latin typeface="Times New Roman"/>
              <a:cs typeface="Times New Roman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Ba thuật toán tiếp cận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651760" cy="36576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2651760" cy="73152"/>
          </a:xfrm>
          <a:prstGeom prst="rect">
            <a:avLst/>
          </a:prstGeom>
          <a:solidFill>
            <a:srgbClr val="8899A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1887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8899AA"/>
                </a:solidFill>
                <a:latin typeface="Times New Roman"/>
                <a:ea typeface="Trebuchet MS" pitchFamily="34" charset="-122"/>
                <a:cs typeface="Times New Roman"/>
              </a:rPr>
              <a:t>Heuristic</a:t>
            </a:r>
            <a:endParaRPr lang="en-US" sz="14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8899AA"/>
                </a:solidFill>
                <a:latin typeface="Times New Roman"/>
                <a:ea typeface="Trebuchet MS" pitchFamily="34" charset="-122"/>
                <a:cs typeface="Times New Roman"/>
              </a:rPr>
              <a:t>(Đứng yên tại tâm)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0080" y="274320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UAV cố định tại (0, 0)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Không cần tính toán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Baseline đối chứng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37560" y="914400"/>
            <a:ext cx="2651760" cy="36576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337560" y="91440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18872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9800"/>
                </a:solidFill>
                <a:latin typeface="Times New Roman"/>
                <a:ea typeface="Trebuchet MS" pitchFamily="34" charset="-122"/>
                <a:cs typeface="Times New Roman"/>
              </a:rPr>
              <a:t>Greedy</a:t>
            </a:r>
            <a:endParaRPr lang="en-US" sz="14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9800"/>
                </a:solidFill>
                <a:latin typeface="Times New Roman"/>
                <a:ea typeface="Trebuchet MS" pitchFamily="34" charset="-122"/>
                <a:cs typeface="Times New Roman"/>
              </a:rPr>
              <a:t>(Tham lam)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13" name="Text 9"/>
          <p:cNvSpPr/>
          <p:nvPr/>
        </p:nvSpPr>
        <p:spPr>
          <a:xfrm>
            <a:off x="3520440" y="274320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Di chuyển về phía user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có SNR kém nhất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Tối ưu cục bộ ngắn hạn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217920" y="914400"/>
            <a:ext cx="2651760" cy="36576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17920" y="91440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18872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5508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CAF50"/>
                </a:solidFill>
                <a:latin typeface="Times New Roman"/>
                <a:ea typeface="Trebuchet MS" pitchFamily="34" charset="-122"/>
                <a:cs typeface="Times New Roman"/>
              </a:rPr>
              <a:t>Grid Search</a:t>
            </a:r>
            <a:endParaRPr lang="en-US" sz="14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CAF50"/>
                </a:solidFill>
                <a:latin typeface="Times New Roman"/>
                <a:ea typeface="Trebuchet MS" pitchFamily="34" charset="-122"/>
                <a:cs typeface="Times New Roman"/>
              </a:rPr>
              <a:t>(Tối ưu lưới)</a:t>
            </a:r>
            <a:endParaRPr lang="en-US" sz="1400" dirty="0">
              <a:latin typeface="Times New Roman"/>
              <a:cs typeface="Times New Roman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400800" y="274320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Quét toàn bộ 120×120 ô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lưới không gian</a:t>
            </a: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endParaRPr lang="en-US" sz="12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Tìm vị trí tối ưu toàn cục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CHƯƠNG 4</a:t>
            </a:r>
            <a:endParaRPr lang="en-US" sz="2000" dirty="0">
              <a:latin typeface="Times New Roman"/>
              <a:cs typeface="Times New Roman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KẾT QUẢ MÔ PHỎNG VÀ THẢO LUẬN</a:t>
            </a:r>
            <a:endParaRPr lang="en-US" sz="2800" dirty="0">
              <a:latin typeface="Times New Roman"/>
              <a:cs typeface="Times New Roman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So sánh hiệu năng 3 thuật toán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651760" cy="2560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2651760" cy="73152"/>
          </a:xfrm>
          <a:prstGeom prst="rect">
            <a:avLst/>
          </a:prstGeom>
          <a:solidFill>
            <a:srgbClr val="8899A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Đứng yên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8899AA"/>
                </a:solidFill>
                <a:latin typeface="Times New Roman"/>
                <a:ea typeface="Trebuchet MS" pitchFamily="34" charset="-122"/>
                <a:cs typeface="Times New Roman"/>
              </a:rPr>
              <a:t>1726.06</a:t>
            </a:r>
            <a:endParaRPr lang="en-US" sz="3200" dirty="0">
              <a:latin typeface="Times New Roman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Mbps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Times New Roman"/>
                <a:ea typeface="Consolas" pitchFamily="34" charset="-122"/>
                <a:cs typeface="Times New Roman"/>
              </a:rPr>
              <a:t>Vị trí: (0.00, 0.00)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05840" y="2880360"/>
            <a:ext cx="1554480" cy="320040"/>
          </a:xfrm>
          <a:prstGeom prst="rect">
            <a:avLst/>
          </a:prstGeom>
          <a:solidFill>
            <a:srgbClr val="1A2D4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Baseline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337560" y="914400"/>
            <a:ext cx="2651760" cy="2560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914400"/>
            <a:ext cx="2651760" cy="73152"/>
          </a:xfrm>
          <a:prstGeom prst="rect">
            <a:avLst/>
          </a:prstGeom>
          <a:solidFill>
            <a:srgbClr val="EF5350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1097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Tham lam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37560" y="1554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F5350"/>
                </a:solidFill>
                <a:latin typeface="Times New Roman"/>
                <a:ea typeface="Trebuchet MS" pitchFamily="34" charset="-122"/>
                <a:cs typeface="Times New Roman"/>
              </a:rPr>
              <a:t>1663.49</a:t>
            </a:r>
            <a:endParaRPr lang="en-US" sz="3200" dirty="0">
              <a:latin typeface="Times New Roman"/>
              <a:cs typeface="Times New Roman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337560" y="2148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Mbps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3756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Times New Roman"/>
                <a:ea typeface="Consolas" pitchFamily="34" charset="-122"/>
                <a:cs typeface="Times New Roman"/>
              </a:rPr>
              <a:t>Vị trí: (−28.41, 33.29)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886200" y="2880360"/>
            <a:ext cx="1554480" cy="320040"/>
          </a:xfrm>
          <a:prstGeom prst="rect">
            <a:avLst/>
          </a:prstGeom>
          <a:solidFill>
            <a:srgbClr val="1A2D4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5350"/>
                </a:solidFill>
                <a:latin typeface="Times New Roman"/>
                <a:ea typeface="Calibri" pitchFamily="34" charset="-122"/>
                <a:cs typeface="Times New Roman"/>
              </a:rPr>
              <a:t>Thấp nhất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17920" y="914400"/>
            <a:ext cx="2651760" cy="25603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91440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97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Tối ưu lưới</a:t>
            </a:r>
            <a:endParaRPr lang="en-US" sz="1500" dirty="0">
              <a:latin typeface="Times New Roman"/>
              <a:cs typeface="Times New Roman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217920" y="1554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CAF50"/>
                </a:solidFill>
                <a:latin typeface="Times New Roman"/>
                <a:ea typeface="Trebuchet MS" pitchFamily="34" charset="-122"/>
                <a:cs typeface="Times New Roman"/>
              </a:rPr>
              <a:t>1733.75</a:t>
            </a:r>
            <a:endParaRPr lang="en-US" sz="3200" dirty="0">
              <a:latin typeface="Times New Roman"/>
              <a:cs typeface="Times New Roman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217920" y="2148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Mbps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21792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0BEC5"/>
                </a:solidFill>
                <a:latin typeface="Times New Roman"/>
                <a:ea typeface="Consolas" pitchFamily="34" charset="-122"/>
                <a:cs typeface="Times New Roman"/>
              </a:rPr>
              <a:t>Vị trí: (5.55, 11.60)</a:t>
            </a:r>
            <a:endParaRPr lang="en-US" sz="1000" dirty="0">
              <a:latin typeface="Times New Roman"/>
              <a:cs typeface="Times New Roman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766560" y="2880360"/>
            <a:ext cx="1554480" cy="320040"/>
          </a:xfrm>
          <a:prstGeom prst="rect">
            <a:avLst/>
          </a:prstGeom>
          <a:solidFill>
            <a:srgbClr val="1A2D4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AF50"/>
                </a:solidFill>
                <a:latin typeface="Times New Roman"/>
                <a:ea typeface="Calibri" pitchFamily="34" charset="-122"/>
                <a:cs typeface="Times New Roman"/>
              </a:rPr>
              <a:t>Cao nhất</a:t>
            </a:r>
            <a:endParaRPr lang="en-US" sz="1100" dirty="0">
              <a:latin typeface="Times New Roman"/>
              <a:cs typeface="Times New Roman"/>
            </a:endParaRPr>
          </a:p>
        </p:txBody>
      </p:sp>
      <p:graphicFrame>
        <p:nvGraphicFramePr>
          <p:cNvPr id="25" name="Chart 0"/>
          <p:cNvGraphicFramePr/>
          <p:nvPr/>
        </p:nvGraphicFramePr>
        <p:xfrm>
          <a:off x="457200" y="3657600"/>
          <a:ext cx="8229600" cy="1325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Chi tiết dung lượng từng người dùng (Mbps)</a:t>
            </a:r>
            <a:endParaRPr lang="en-US" sz="2200" dirty="0">
              <a:latin typeface="Times New Roman"/>
              <a:cs typeface="Times New Roman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="" xmlns:p14="http://schemas.microsoft.com/office/powerpoint/2010/main" val="1579011935"/>
              </p:ext>
            </p:extLst>
          </p:nvPr>
        </p:nvGraphicFramePr>
        <p:xfrm>
          <a:off x="640080" y="868680"/>
          <a:ext cx="7872984" cy="3593592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25856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258568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258568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User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C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Đứng yên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C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Tham lam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C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Tối ưu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CD4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U1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198.87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198.84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U2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191.30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175.78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197.03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U3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203.39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180.23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U4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U5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193.40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U6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203.65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194.23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U7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194.71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190.13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201.72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U8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176.38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191.59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U9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BCD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TỔNG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1726.06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535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1663.49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AF5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1733.75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A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Bài học kinh nghiệm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34747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3931920" cy="73152"/>
          </a:xfrm>
          <a:prstGeom prst="rect">
            <a:avLst/>
          </a:prstGeom>
          <a:solidFill>
            <a:srgbClr val="EF535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887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188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5350"/>
                </a:solidFill>
                <a:latin typeface="Times New Roman"/>
                <a:ea typeface="Trebuchet MS" pitchFamily="34" charset="-122"/>
                <a:cs typeface="Times New Roman"/>
              </a:rPr>
              <a:t>Nghịch lý Tham lam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8" name="Text 5"/>
          <p:cNvSpPr/>
          <p:nvPr/>
        </p:nvSpPr>
        <p:spPr>
          <a:xfrm>
            <a:off x="685800" y="17830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Greedy cho kết quả thấp nhất dù di chuyển linh hoạt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Cứu vài user biên xa (U3: 203 Mbps, U6: 204 Mbps)...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...nhưng kéo tụt số đông còn lại (U1: 174, U9: 165 Mbps)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Suy hao mmWave theo hàm mũ khoảng cách → hi sinh số đông vì số ít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754880" y="914400"/>
            <a:ext cx="3931920" cy="347472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914400"/>
            <a:ext cx="3931920" cy="73152"/>
          </a:xfrm>
          <a:prstGeom prst="rect">
            <a:avLst/>
          </a:prstGeom>
          <a:solidFill>
            <a:srgbClr val="4CAF5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18872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188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CAF50"/>
                </a:solidFill>
                <a:latin typeface="Times New Roman"/>
                <a:ea typeface="Trebuchet MS" pitchFamily="34" charset="-122"/>
                <a:cs typeface="Times New Roman"/>
              </a:rPr>
              <a:t>Giá trị Tối ưu toàn cục</a:t>
            </a:r>
            <a:endParaRPr lang="en-US" sz="1600" dirty="0">
              <a:latin typeface="Times New Roman"/>
              <a:cs typeface="Times New Roman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983480" y="17830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Grid Search đạt Sum-Rate cao nhất: 1733.75 Mbps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Vị trí (5.55, 11.60) m → cân bằng khoảng cách tới mọi user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U1, U2, U4, U7 đều đạt 197−202 Mbps → phân bổ công bằng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Chứng minh: Global Optimization &gt; Local Optimization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Kết luận &amp; Hướng phát triển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4114800" cy="356616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68680"/>
            <a:ext cx="4114800" cy="73152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KẾT LUẬN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Xây dựng thành công mô hình toán học kênh truyền mmWave 3D với Path Loss LoS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Phát triển dashboard mô phỏng trực quan trên Streamlit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Grid Search đạt 1733.75 Mbps — vượt trội so với Greedy và Baseline</a:t>
            </a:r>
            <a:endParaRPr lang="en-US" sz="1200" dirty="0">
              <a:latin typeface="Times New Roman"/>
              <a:cs typeface="Times New Roman"/>
            </a:endParaRPr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Luận giải nghịch lý Greedy dưới góc độ tổn hao mmWave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8" name="Text 6"/>
          <p:cNvSpPr/>
          <p:nvPr/>
        </p:nvSpPr>
        <p:spPr>
          <a:xfrm>
            <a:off x="484632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HƯỚNG PHÁT TRIỂN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846320" y="1463040"/>
            <a:ext cx="3840480" cy="868680"/>
          </a:xfrm>
          <a:prstGeom prst="rect">
            <a:avLst/>
          </a:prstGeom>
          <a:solidFill>
            <a:srgbClr val="152238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411480" cy="411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577840" y="15361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Multi-UAV Networks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577840" y="1874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Mở rộng sang mạng đa UAV phối hợp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846320" y="2514600"/>
            <a:ext cx="3840480" cy="868680"/>
          </a:xfrm>
          <a:prstGeom prst="rect">
            <a:avLst/>
          </a:prstGeom>
          <a:solidFill>
            <a:srgbClr val="152238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77840" y="25877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ISAC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5577840" y="2926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Tích hợp cảm biến &amp; truyền thông hợp nhất</a:t>
            </a:r>
            <a:endParaRPr lang="en-US" sz="1100" dirty="0">
              <a:latin typeface="Times New Roman"/>
              <a:cs typeface="Times New Roman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4846320" y="3566160"/>
            <a:ext cx="3840480" cy="868680"/>
          </a:xfrm>
          <a:prstGeom prst="rect">
            <a:avLst/>
          </a:prstGeom>
          <a:solidFill>
            <a:srgbClr val="152238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374904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577840" y="36393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54F"/>
                </a:solidFill>
                <a:latin typeface="Times New Roman"/>
                <a:ea typeface="Trebuchet MS" pitchFamily="34" charset="-122"/>
                <a:cs typeface="Times New Roman"/>
              </a:rPr>
              <a:t>AI/DRL</a:t>
            </a:r>
            <a:endParaRPr lang="en-US" sz="1300" dirty="0">
              <a:latin typeface="Times New Roman"/>
              <a:cs typeface="Times New Roman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5577840" y="3977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Thuật toán trí tuệ nhân tạo thời gian thực</a:t>
            </a:r>
            <a:endParaRPr lang="en-US" sz="11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DEMO ỨNG DỤNG MÔ PHỎNG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005840"/>
            <a:ext cx="7315200" cy="3200400"/>
          </a:xfrm>
          <a:prstGeom prst="rect">
            <a:avLst/>
          </a:prstGeom>
          <a:solidFill>
            <a:srgbClr val="15223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64592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CD4"/>
                </a:solidFill>
                <a:latin typeface="Times New Roman"/>
                <a:ea typeface="Trebuchet MS" pitchFamily="34" charset="-122"/>
                <a:cs typeface="Times New Roman"/>
              </a:rPr>
              <a:t>Streamlit Dashboard</a:t>
            </a:r>
            <a:endParaRPr lang="en-US" sz="2200" dirty="0">
              <a:latin typeface="Times New Roman"/>
              <a:cs typeface="Times New Roman"/>
            </a:endParaRPr>
          </a:p>
        </p:txBody>
      </p:sp>
      <p:sp>
        <p:nvSpPr>
          <p:cNvPr id="7" name="Text 4"/>
          <p:cNvSpPr/>
          <p:nvPr/>
        </p:nvSpPr>
        <p:spPr>
          <a:xfrm>
            <a:off x="1371600" y="33375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Trình diễn trực tiếp ứng dụng mô phỏng Python</a:t>
            </a:r>
            <a:endParaRPr lang="en-US" sz="13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B0BEC5"/>
                </a:solidFill>
                <a:latin typeface="Times New Roman"/>
                <a:ea typeface="Calibri" pitchFamily="34" charset="-122"/>
                <a:cs typeface="Times New Roman"/>
              </a:rPr>
              <a:t>Thay đổi tham số → Quan sát kết quả thời gian thực</a:t>
            </a:r>
            <a:endParaRPr lang="en-US" sz="13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655277" y="-2224454"/>
            <a:ext cx="7315200" cy="7315200"/>
          </a:xfrm>
          <a:prstGeom prst="ellipse">
            <a:avLst/>
          </a:prstGeom>
          <a:solidFill>
            <a:srgbClr val="00BCD4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972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CẢM ƠN THẦY </a:t>
            </a:r>
            <a:r>
              <a:rPr lang="en-US" sz="3600" b="1" smtClean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VÀ </a:t>
            </a:r>
            <a:r>
              <a:rPr lang="en-US" sz="3600" b="1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ANH CHỊ</a:t>
            </a:r>
            <a:endParaRPr lang="en-US" sz="3600">
              <a:latin typeface="Times New Roman"/>
              <a:cs typeface="Times New Roman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imes New Roman"/>
                <a:ea typeface="Trebuchet MS" pitchFamily="34" charset="-122"/>
                <a:cs typeface="Times New Roman"/>
              </a:rPr>
              <a:t>ĐÃ LẮNG NGHE!</a:t>
            </a:r>
            <a:endParaRPr lang="en-US" sz="3600" dirty="0">
              <a:latin typeface="Times New Roman"/>
              <a:cs typeface="Times New Roman"/>
            </a:endParaRPr>
          </a:p>
        </p:txBody>
      </p:sp>
      <p:sp>
        <p:nvSpPr>
          <p:cNvPr id="7" name="Text 5"/>
          <p:cNvSpPr/>
          <p:nvPr/>
        </p:nvSpPr>
        <p:spPr>
          <a:xfrm>
            <a:off x="1828800" y="2683412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GVHD: PGS. TS. Hà Đắc Bình</a:t>
            </a:r>
            <a:endParaRPr lang="en-US" sz="1300" dirty="0">
              <a:latin typeface="Times New Roman"/>
              <a:cs typeface="Times New Roman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300" dirty="0">
                <a:solidFill>
                  <a:srgbClr val="8899AA"/>
                </a:solidFill>
                <a:latin typeface="Times New Roman"/>
                <a:ea typeface="Calibri" pitchFamily="34" charset="-122"/>
                <a:cs typeface="Times New Roman"/>
              </a:rPr>
              <a:t>Nguyễn Chiếm Hảo  •  Phùng Hữu Thi  •  Trần Văn Bảo</a:t>
            </a:r>
            <a:endParaRPr lang="en-US" sz="13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</TotalTime>
  <Words>1067</Words>
  <Application>Microsoft Office PowerPoint</Application>
  <PresentationFormat>On-screen Show (16:9)</PresentationFormat>
  <Paragraphs>224</Paragraphs>
  <Slides>18</Slides>
  <Notes>18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/>
  <cp:lastModifiedBy>Brady</cp:lastModifiedBy>
  <cp:revision>35</cp:revision>
  <dcterms:created xsi:type="dcterms:W3CDTF">2026-05-17T01:39:28Z</dcterms:created>
  <dcterms:modified xsi:type="dcterms:W3CDTF">2026-05-17T03:07:18Z</dcterms:modified>
</cp:coreProperties>
</file>