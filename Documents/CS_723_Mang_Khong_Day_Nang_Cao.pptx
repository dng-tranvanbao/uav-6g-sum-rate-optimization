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B5115D-20C4-50F6-1B25-ACCEDAAB625C}" v="140" dt="2026-05-17T02:38:21.0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9972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-82" y="-22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Sum-Rate (Mbps)</c:v>
                </c:pt>
              </c:strCache>
            </c:strRef>
          </c:tx>
          <c:spPr>
            <a:solidFill>
              <a:srgbClr val="8899AA"/>
            </a:solidFill>
            <a:effectLst/>
          </c:spPr>
          <c:dPt>
            <c:idx val="1"/>
            <c:spPr>
              <a:solidFill>
                <a:srgbClr val="EF53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CF99-4749-B5FF-9F631B7EC850}"/>
              </c:ext>
            </c:extLst>
          </c:dPt>
          <c:dPt>
            <c:idx val="2"/>
            <c:spPr>
              <a:solidFill>
                <a:srgbClr val="4CAF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CF99-4749-B5FF-9F631B7EC85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Val val="1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Đứng yên</c:v>
                </c:pt>
                <c:pt idx="1">
                  <c:v>Tham lam</c:v>
                </c:pt>
                <c:pt idx="2">
                  <c:v>Tối ưu lưới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1726.06</c:v>
                </c:pt>
                <c:pt idx="1">
                  <c:v>1663.49</c:v>
                </c:pt>
                <c:pt idx="2">
                  <c:v>1733.75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CF99-4749-B5FF-9F631B7EC850}"/>
            </c:ext>
          </c:extLst>
        </c:ser>
        <c:dLbls>
          <c:showVal val="1"/>
        </c:dLbls>
        <c:axId val="150159360"/>
        <c:axId val="150160896"/>
      </c:barChart>
      <c:catAx>
        <c:axId val="150159360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50160896"/>
        <c:crosses val="autoZero"/>
        <c:auto val="1"/>
        <c:lblAlgn val="ctr"/>
        <c:lblOffset val="100"/>
        <c:noMultiLvlLbl val="1"/>
      </c:catAx>
      <c:valAx>
        <c:axId val="150160896"/>
        <c:scaling>
          <c:orientation val="minMax"/>
        </c:scaling>
        <c:axPos val="l"/>
        <c:majorGridlines>
          <c:spPr>
            <a:ln w="6350" cap="flat">
              <a:solidFill>
                <a:srgbClr val="1A2D4A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50159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52238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680D6B-EB76-4A51-8419-3ACFC8A1FFE1}" type="datetimeFigureOut">
              <a:rPr/>
              <a:pPr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3BDB2D-B5D5-4DC8-9928-5EDCF0C09CB4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6005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BCD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0097A7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3152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NGHIÊN CỨU VÀ MÔ PHỎNG HIỆU SUẤT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 MẠNG 6G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HỖ TRỢ BỞI UAV</a:t>
            </a:r>
            <a:endParaRPr lang="en-US" sz="28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Tiểu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luận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Mạng Không Dây Nâng Cao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</a:t>
            </a:r>
            <a:r>
              <a:rPr lang="en-US" sz="1300" b="1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Đắc</a:t>
            </a: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Bình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Nhóm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: Nguyễn Chiếm Hảo  •  Phùng Hữu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Thi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 •  Trần Văn Bảo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Đại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Học Duy Tân  | 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Đà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Nẵng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, 05/2026</a:t>
            </a:r>
            <a:endParaRPr lang="en-US" sz="1300">
              <a:latin typeface="Times New Roman"/>
              <a:cs typeface="Times New Roman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57200"/>
            <a:ext cx="640080" cy="640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NỘI DUNG TRÌNH BÀY</a:t>
            </a:r>
            <a:endParaRPr lang="en-US" sz="3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070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01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2801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2344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Tổng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quan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công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nghệ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UAV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trong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mạng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6G</a:t>
            </a:r>
            <a:endParaRPr lang="en-US" sz="1600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02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2402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94560" y="21945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Mô hình hệ thống &amp; bài toán tối ưu hóa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40080" y="301752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31272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03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" y="32004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194560" y="3154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Giải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pháp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thuật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toán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đề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xuất</a:t>
            </a:r>
            <a:endParaRPr lang="en-US" sz="1600" dirty="0" err="1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40080" y="397764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22960" y="4087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04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4160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194560" y="4114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Kết quả mô phỏng &amp; thảo luận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CHƯƠNG 1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TỔNG QUAN VỀ CÔNG NGHỆ UAV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TRONG MẠNG VÔ TUYẾN 6G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Vai trò của UAV trong mạng 6G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Trạm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gốc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trên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không</a:t>
            </a:r>
            <a:endParaRPr lang="en-US" sz="1300" dirty="0" err="1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(Aerial BS)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Cấp phát vùng phủ sóng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mmWave đường xuống cho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vùng thiên tai, cô lập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33756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Trạm chuyển tiếp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(Aerial Relay)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47472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Tăng cường liên kết khi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LoS bị che khuất bởi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chướng ngại vật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21792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94360" cy="5943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5508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Thiết bị thu phát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(Aerial UE)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635508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Kết nối đa hướng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mặt đất - vệ tinh,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chia sẻ dữ liệu thời gian thực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5312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43708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Trọng tâm nghiên cứu: Mô hình UAV làm Trạm gốc trên không (Aerial BS) cấp phát mạng mmWave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Thách thức hệ thống mạng UAV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Giới hạn Năng lượng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4592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SWaP Constraints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4846320" y="11430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Pin tích hợp giới hạn: cần cân bằng giữa công suất phát vô tuyến và công suất cơ học di chuyển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33172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06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Nhiễu tín hiệu phức tạp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6459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Co-channel Interference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46320" y="2468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LoS độ lợi cao tạo nhiễu đồng kênh nghiêm trọng giữa UAV-BS và trạm mặt đất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319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45920" y="3749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Hiệu ứng Rung lắc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6459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UAV Jittering Effect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846320" y="37947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Gió, rung cánh quạt phá hủy độ chính xác bám bắt búp sóng mmWave/THz bước sóng cực ngắn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2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MÔ HÌNH HỆ THỐNG VÀ BÀI TOÁN</a:t>
            </a:r>
            <a:endParaRPr lang="en-US" sz="3200" dirty="0">
              <a:latin typeface="Times New Roman"/>
              <a:cs typeface="Times New Roman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Kịch bản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UAV-BS phát sóng mmWave đường xuống cho K = 9 người dùng mặt đất trong vùng 100 × 100 m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bay cố định ở độ cao h = 50 m, điều chỉnh linh hoạt tọa độ (x, y)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truyền LoS với mô hình suy hao mmWave 28 GHz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Mục tiêu: Tối ưu hóa vị trí UAV để cực đại hóa tổng dung lượng mạng (Sum-Rate)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0352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28 GHz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530352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Tần số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0352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mmWave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17804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780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30 dBm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7804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Công suất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UAV-BS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30352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20 MHz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Băng thông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0352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Kênh truyền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7804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50 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7804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Độ cao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1780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 cố định</a:t>
            </a:r>
            <a:endParaRPr lang="en-US" sz="1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Xây dựng mô hình toán học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896112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7899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1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960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Khoảng cách hình học</a:t>
            </a:r>
            <a:endParaRPr lang="en-US" sz="13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d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= √((x - </a:t>
            </a:r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x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1200" b="1" baseline="30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+ (y - </a:t>
            </a:r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1200" b="1" baseline="30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+ h</a:t>
            </a:r>
            <a:r>
              <a:rPr lang="en-US" sz="1200" b="1" baseline="30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endParaRPr lang="en-US" sz="1200" dirty="0" smtClean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Euclide 3D giữa UAV và user u</a:t>
            </a:r>
            <a:endParaRPr lang="en-US" sz="115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8483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2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Suy hao đường truyền (Path Loss)</a:t>
            </a:r>
            <a:endParaRPr lang="en-US" sz="13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PL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(d) = PL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+ 10 • α • log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10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(d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endParaRPr lang="en-US" sz="1200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54880" y="2057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mmWave LoS, α = 2.2, f_c = 28 GHz</a:t>
            </a:r>
            <a:endParaRPr lang="en-US" sz="115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09067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3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71600" y="2971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Tỷ số tín hiệu / nhiễu (SNR)</a:t>
            </a:r>
            <a:endParaRPr lang="en-US" sz="13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7160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γ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P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rx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, 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/ σ</a:t>
            </a:r>
            <a:r>
              <a:rPr lang="en-US" sz="1200" b="1" baseline="30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endParaRPr lang="en-US" sz="1200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P_tx = 30 dBm, σ² = −100 dBm</a:t>
            </a:r>
            <a:endParaRPr lang="en-US" sz="115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9651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4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Dung lượng Shannon (Throughput)</a:t>
            </a:r>
            <a:endParaRPr lang="en-US" sz="13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 = B • log</a:t>
            </a:r>
            <a:r>
              <a:rPr lang="en-US" sz="1200" b="1" baseline="-25000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(1 + </a:t>
            </a:r>
            <a:r>
              <a:rPr lang="en-US" sz="1200" b="1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γ</a:t>
            </a:r>
            <a:r>
              <a:rPr lang="en-US" sz="1200" b="1" baseline="-25000" dirty="0" err="1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endParaRPr lang="en-US" sz="1200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B = 20 MHz, đơn vị: Mbps</a:t>
            </a:r>
            <a:endParaRPr lang="en-US" sz="115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Phát biểu bài toán tối ưu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MỤC TIÊU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Cực đại hóa Tổng tốc độ bit hệ thống (Sum-Rate)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max(x,y)   Sum(u=1..K)  Cu(x, y)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28800" y="2926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Times New Roman"/>
                <a:ea typeface="Consolas" pitchFamily="34" charset="-122"/>
                <a:cs typeface="Times New Roman"/>
              </a:rPr>
              <a:t>Ràng buộc:   −50 ≤ x ≤ 50  ;  −50 ≤ y ≤ 50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3931920"/>
            <a:ext cx="6400800" cy="64008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402336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03120" y="3931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Biến quyết định: tọa độ (x, y) của UAV-BS trên mặt phẳng ngang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3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GIẢI PHÁP THUẬT TOÁN ĐỀ XUẤT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Ba thuật toán tiếp cận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Heuristic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(Đứng yên tại tâm)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cố định tại (0, 0)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Không cần tính toán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Baseline đối chứng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Greedy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(Tham lam)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52044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Di chuyển về phía user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có SNR kém nhất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Tối ưu cục bộ ngắn hạn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1792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Grid Search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(Tối ưu lưới)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0080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Quét toàn bộ 120×120 ô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lưới không gian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Tìm vị trí tối ưu toàn cục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4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QUẢ MÔ PHỎNG VÀ THẢO LUẬN</a:t>
            </a:r>
            <a:endParaRPr lang="en-US" sz="28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So sánh hiệu năng 3 thuật toán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Đứng yên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1726.06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(0.00, 0.00)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0584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Baseline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33756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Tham lam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1663.49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3756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375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(−28.41, 33.29)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88620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5350"/>
                </a:solidFill>
                <a:latin typeface="Times New Roman"/>
                <a:ea typeface="Calibri" pitchFamily="34" charset="-122"/>
                <a:cs typeface="Times New Roman"/>
              </a:rPr>
              <a:t>Thấp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1792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lưới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1792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1733.75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792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1792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(5.55, 11.60)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6656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50"/>
                </a:solidFill>
                <a:latin typeface="Times New Roman"/>
                <a:ea typeface="Calibri" pitchFamily="34" charset="-122"/>
                <a:cs typeface="Times New Roman"/>
              </a:rPr>
              <a:t>Cao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graphicFrame>
        <p:nvGraphicFramePr>
          <p:cNvPr id="25" name="Chart 0"/>
          <p:cNvGraphicFramePr/>
          <p:nvPr/>
        </p:nvGraphicFramePr>
        <p:xfrm>
          <a:off x="457200" y="3657600"/>
          <a:ext cx="822960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Chi tiết dung lượng từng người dùng (Mbps)</a:t>
            </a:r>
            <a:endParaRPr lang="en-US" sz="2200" dirty="0">
              <a:latin typeface="Times New Roman"/>
              <a:cs typeface="Times New Roman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40080" y="868680"/>
          <a:ext cx="7872984" cy="359359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Đứng yên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Tham lam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Tối ưu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U4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U7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U8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C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TỔNG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1726.06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53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1663.49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1733.75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Bài học kinh nghiệm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73152"/>
          </a:xfrm>
          <a:prstGeom prst="rect">
            <a:avLst/>
          </a:prstGeom>
          <a:solidFill>
            <a:srgbClr val="EF53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Nghịch lý Tham lam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Greedy cho kết quả thấp nhất dù di chuyển linh hoạt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Cứu vài user biên xa (U3: 203 Mbps, U6: 204 Mbps)...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...nhưng kéo tụt số đông còn lại (U1: 174, U9: 165 Mbps)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Suy hao mmWave theo hàm mũ khoảng cách → hi sinh số đông vì số ít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Giá trị Tối ưu toàn cục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8348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Sum-Rate cao nhất: 1733.75 Mbps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Vị trí (5.55, 11.60) m → cân bằng khoảng cách tới mọi user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U1, U2, U4, U7 đều đạt 197−202 Mbps → phân bổ công bằng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Chứng minh: Global Optimization &gt; Local Optimization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luận &amp; Hướng phát triển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114800" cy="356616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4114800" cy="7315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KẾT LUẬN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Xây dựng thành công mô hình toán học kênh truyền mmWave 3D với Path Loss LoS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Phát triển dashboard mô phỏng trực quan trên Streamlit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1733.75 Mbps — vượt trội so với Greedy và Baseline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Luận giải nghịch lý Greedy dưới góc độ tổn hao mmWave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HƯỚNG PHÁT TRIỂN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77840" y="15361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Multi-UAV Networks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577840" y="1874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Mở rộng sang mạng đa UAV phối hợp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846320" y="251460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ISAC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577840" y="2926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Tích hợp cảm biến &amp; truyền thông hợp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846320" y="356616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74904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77840" y="36393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AI/DRL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55778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Thuật toán trí tuệ nhân tạo thời gian thực</a:t>
            </a:r>
            <a:endParaRPr lang="en-US" sz="11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DEMO ỨNG DỤNG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4592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Streamlit Dashboard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7160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Trình diễn trực tiếp ứng dụng mô phỏng Python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Thay đổi tham số → Quan sát kết quả thời gian thực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55277" y="-2224454"/>
            <a:ext cx="7315200" cy="7315200"/>
          </a:xfrm>
          <a:prstGeom prst="ellipse">
            <a:avLst/>
          </a:prstGeom>
          <a:solidFill>
            <a:srgbClr val="00BCD4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CẢM ƠN THẦY </a:t>
            </a:r>
            <a:r>
              <a:rPr lang="en-US" sz="3600" b="1" smtClean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VÀ </a:t>
            </a:r>
            <a:r>
              <a:rPr lang="en-US" sz="3600" b="1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ANH CHỊ</a:t>
            </a:r>
            <a:endParaRPr lang="en-US" sz="3600">
              <a:latin typeface="Times New Roman"/>
              <a:cs typeface="Times New Roman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ĐÃ LẮNG NGHE!</a:t>
            </a:r>
            <a:endParaRPr lang="en-US" sz="3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6834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Đắc Bình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Nguyễn Chiếm Hảo  •  Phùng Hữu Thi  •  Trần Văn Bảo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1067</Words>
  <Application>Microsoft Office PowerPoint</Application>
  <PresentationFormat>On-screen Show (16:9)</PresentationFormat>
  <Paragraphs>224</Paragraphs>
  <Slides>18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/>
  <cp:lastModifiedBy>Brady</cp:lastModifiedBy>
  <cp:revision>36</cp:revision>
  <dcterms:created xsi:type="dcterms:W3CDTF">2026-05-17T01:39:28Z</dcterms:created>
  <dcterms:modified xsi:type="dcterms:W3CDTF">2026-05-17T03:13:40Z</dcterms:modified>
</cp:coreProperties>
</file>